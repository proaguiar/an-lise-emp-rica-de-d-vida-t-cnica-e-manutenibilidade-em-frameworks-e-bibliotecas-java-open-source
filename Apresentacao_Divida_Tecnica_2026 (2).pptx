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857B70-92BB-4C95-A5CD-33AFEF0D7EF8}">
  <a:tblStyle styleId="{C8857B70-92BB-4C95-A5CD-33AFEF0D7E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4767a88d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a4767a88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4767a88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a4767a88d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D4A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1463040"/>
            <a:ext cx="1069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Empírica de Dívida Técnica e Manutenibilidade em Frameworks e Bibliotecas Java Open-Source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4A53F"/>
                </a:solidFill>
                <a:latin typeface="Calibri"/>
                <a:ea typeface="Calibri"/>
                <a:cs typeface="Calibri"/>
                <a:sym typeface="Calibri"/>
              </a:rPr>
              <a:t>Um Estudo Comparativo</a:t>
            </a:r>
            <a:endParaRPr sz="2500"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4754880"/>
            <a:ext cx="10698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André de Oliveira Cacau · Paulo Ricardo Oliveira de Aguiar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9D4E0"/>
                </a:solidFill>
                <a:latin typeface="Calibri"/>
                <a:ea typeface="Calibri"/>
                <a:cs typeface="Calibri"/>
                <a:sym typeface="Calibri"/>
              </a:rPr>
              <a:t>Universidade Federal do Acre (UFAC) — PPgCC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2300" y="224175"/>
            <a:ext cx="1028700" cy="15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400" y="587375"/>
            <a:ext cx="108775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5400"/>
            <a:ext cx="11887200" cy="320780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Motivação e Problema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48640" y="1188720"/>
            <a:ext cx="110643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Sistemas de software complexos exigem confiabilidade e sustentabilidade do código-fonte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Pressão por prazos reduzidos leva equipes a adotar atalhos de implementação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Acúmulo de Dívida Técnica Arquitetural (ATD)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Proliferação de code smells → degradação da manutenibilidade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Metáfora de Cunningham (1992): atalhos = empréstimo financeiro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Os "juros" são pagos em esforço de refatoração e falhas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Problema prático: ferramentas estáticas geram milhares de alertas simultâneos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Sem critérios claros, o esforço é pulverizado em artefatos secundários</a:t>
            </a:r>
            <a:endParaRPr sz="2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Módulos críticos continuam acumulando risco</a:t>
            </a:r>
            <a:endParaRPr sz="2500"/>
          </a:p>
        </p:txBody>
      </p:sp>
      <p:sp>
        <p:nvSpPr>
          <p:cNvPr id="103" name="Google Shape;103;p15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Metáfora do Débito Técnico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822960" y="1463040"/>
            <a:ext cx="2926080" cy="1737360"/>
          </a:xfrm>
          <a:prstGeom prst="rect">
            <a:avLst/>
          </a:prstGeom>
          <a:solidFill>
            <a:srgbClr val="B86A2B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Decisão de Atalho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(Código Rápido)</a:t>
            </a:r>
            <a:endParaRPr sz="2000"/>
          </a:p>
        </p:txBody>
      </p:sp>
      <p:sp>
        <p:nvSpPr>
          <p:cNvPr id="111" name="Google Shape;111;p16"/>
          <p:cNvSpPr/>
          <p:nvPr/>
        </p:nvSpPr>
        <p:spPr>
          <a:xfrm>
            <a:off x="8412480" y="1463040"/>
            <a:ext cx="2926080" cy="1737360"/>
          </a:xfrm>
          <a:prstGeom prst="rect">
            <a:avLst/>
          </a:prstGeom>
          <a:solidFill>
            <a:srgbClr val="8B1E2D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Dívida Técnica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(Cunningham, 1992)</a:t>
            </a:r>
            <a:endParaRPr sz="2000"/>
          </a:p>
        </p:txBody>
      </p:sp>
      <p:sp>
        <p:nvSpPr>
          <p:cNvPr id="112" name="Google Shape;112;p16"/>
          <p:cNvSpPr/>
          <p:nvPr/>
        </p:nvSpPr>
        <p:spPr>
          <a:xfrm>
            <a:off x="8412480" y="4206240"/>
            <a:ext cx="2926080" cy="1737360"/>
          </a:xfrm>
          <a:prstGeom prst="rect">
            <a:avLst/>
          </a:prstGeom>
          <a:solidFill>
            <a:srgbClr val="A84A5A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Pagamento de Juros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(Esforço / Falhas)</a:t>
            </a:r>
            <a:endParaRPr sz="2000"/>
          </a:p>
        </p:txBody>
      </p:sp>
      <p:sp>
        <p:nvSpPr>
          <p:cNvPr id="113" name="Google Shape;113;p16"/>
          <p:cNvSpPr/>
          <p:nvPr/>
        </p:nvSpPr>
        <p:spPr>
          <a:xfrm>
            <a:off x="822960" y="4206240"/>
            <a:ext cx="2926080" cy="1737360"/>
          </a:xfrm>
          <a:prstGeom prst="rect">
            <a:avLst/>
          </a:prstGeom>
          <a:solidFill>
            <a:srgbClr val="2E5A8C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Quitação da Dívida</a:t>
            </a:r>
            <a:endParaRPr sz="2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(Refatoração)</a:t>
            </a:r>
            <a:endParaRPr sz="2000"/>
          </a:p>
        </p:txBody>
      </p:sp>
      <p:sp>
        <p:nvSpPr>
          <p:cNvPr id="114" name="Google Shape;114;p16"/>
          <p:cNvSpPr/>
          <p:nvPr/>
        </p:nvSpPr>
        <p:spPr>
          <a:xfrm>
            <a:off x="3931920" y="2103120"/>
            <a:ext cx="4297680" cy="4572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endParaRPr sz="2000"/>
          </a:p>
        </p:txBody>
      </p:sp>
      <p:sp>
        <p:nvSpPr>
          <p:cNvPr id="115" name="Google Shape;115;p16"/>
          <p:cNvSpPr/>
          <p:nvPr/>
        </p:nvSpPr>
        <p:spPr>
          <a:xfrm>
            <a:off x="9213151" y="3383275"/>
            <a:ext cx="1656000" cy="6402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   </a:t>
            </a:r>
            <a:r>
              <a:rPr lang="en-US" sz="2000">
                <a:solidFill>
                  <a:schemeClr val="lt1"/>
                </a:solidFill>
              </a:rPr>
              <a:t>Acumula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931920" y="4846320"/>
            <a:ext cx="4297680" cy="457200"/>
          </a:xfrm>
          <a:prstGeom prst="rect">
            <a:avLst/>
          </a:prstGeom>
          <a:solidFill>
            <a:srgbClr val="2E5A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Exige refatoração</a:t>
            </a:r>
            <a:endParaRPr sz="2000"/>
          </a:p>
        </p:txBody>
      </p:sp>
      <p:sp>
        <p:nvSpPr>
          <p:cNvPr id="117" name="Google Shape;117;p16"/>
          <p:cNvSpPr txBox="1"/>
          <p:nvPr/>
        </p:nvSpPr>
        <p:spPr>
          <a:xfrm>
            <a:off x="3931920" y="1371600"/>
            <a:ext cx="42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Adaptado de Cunningham (1992)</a:t>
            </a:r>
            <a:endParaRPr sz="2000"/>
          </a:p>
        </p:txBody>
      </p:sp>
      <p:sp>
        <p:nvSpPr>
          <p:cNvPr id="118" name="Google Shape;118;p16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  <p:sp>
        <p:nvSpPr>
          <p:cNvPr id="120" name="Google Shape;120;p16"/>
          <p:cNvSpPr/>
          <p:nvPr/>
        </p:nvSpPr>
        <p:spPr>
          <a:xfrm>
            <a:off x="1588317" y="3383225"/>
            <a:ext cx="1484400" cy="6402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</a:t>
            </a:r>
            <a:endParaRPr sz="2000"/>
          </a:p>
        </p:txBody>
      </p:sp>
      <p:sp>
        <p:nvSpPr>
          <p:cNvPr id="121" name="Google Shape;121;p16"/>
          <p:cNvSpPr/>
          <p:nvPr/>
        </p:nvSpPr>
        <p:spPr>
          <a:xfrm rot="-5400000">
            <a:off x="1669017" y="3521525"/>
            <a:ext cx="387300" cy="363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7085697" y="2149949"/>
            <a:ext cx="387300" cy="363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 rot="-10797337">
            <a:off x="4485218" y="4893017"/>
            <a:ext cx="387300" cy="363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 rot="5400000">
            <a:off x="9293758" y="3524515"/>
            <a:ext cx="387300" cy="363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Trabalhos Relacionados</a:t>
            </a:r>
            <a:endParaRPr/>
          </a:p>
        </p:txBody>
      </p:sp>
      <p:graphicFrame>
        <p:nvGraphicFramePr>
          <p:cNvPr id="130" name="Google Shape;130;p17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{C8857B70-92BB-4C95-A5CD-33AFEF0D7EF8}</a:tableStyleId>
              </a:tblPr>
              <a:tblGrid>
                <a:gridCol w="5532125"/>
                <a:gridCol w="5532125"/>
              </a:tblGrid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Autor(es)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Contribuição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Cunningham (1992)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Introduziu a metáfora do débito técnico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Fontana et al. (2016)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Code smells negligenciados aceleram a degradação arquitetural (111 projetos, Qualitas Corpus)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Campbell &amp; Papapetrou (2016)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Complexidade Cognitiva: mede a carga mental do desenvolvedor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Almarimi et al. (2020)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Complexidade cognitiva prediz code smells e defeitos em Java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Lenarduzzi et al. (2019)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TDR do SonarQube identifica arquivos críticos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69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Haas et al. (2020)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Complexidade + dívida técnica → maior reincidência de defeitos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17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Metodologia: Fluxo em 4 Etapas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1097280" y="1280160"/>
            <a:ext cx="8686800" cy="10515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Seleção dos Repositórios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Boot, JUnit 5, Mockito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(clonados das ramificações main/master)</a:t>
            </a:r>
            <a:endParaRPr sz="2000"/>
          </a:p>
        </p:txBody>
      </p:sp>
      <p:sp>
        <p:nvSpPr>
          <p:cNvPr id="139" name="Google Shape;139;p18"/>
          <p:cNvSpPr/>
          <p:nvPr/>
        </p:nvSpPr>
        <p:spPr>
          <a:xfrm>
            <a:off x="10058400" y="1417320"/>
            <a:ext cx="457200" cy="777240"/>
          </a:xfrm>
          <a:prstGeom prst="rect">
            <a:avLst/>
          </a:prstGeom>
          <a:solidFill>
            <a:srgbClr val="D4A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1097280" y="2606039"/>
            <a:ext cx="8686800" cy="1051560"/>
          </a:xfrm>
          <a:prstGeom prst="rect">
            <a:avLst/>
          </a:prstGeom>
          <a:solidFill>
            <a:srgbClr val="2E5A8C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Análise Estática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SonarQube Community Edition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container Docker</a:t>
            </a:r>
            <a:endParaRPr sz="2000"/>
          </a:p>
        </p:txBody>
      </p:sp>
      <p:sp>
        <p:nvSpPr>
          <p:cNvPr id="141" name="Google Shape;141;p18"/>
          <p:cNvSpPr/>
          <p:nvPr/>
        </p:nvSpPr>
        <p:spPr>
          <a:xfrm>
            <a:off x="10058400" y="2743199"/>
            <a:ext cx="457200" cy="777240"/>
          </a:xfrm>
          <a:prstGeom prst="rect">
            <a:avLst/>
          </a:prstGeom>
          <a:solidFill>
            <a:srgbClr val="D4A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097280" y="3931920"/>
            <a:ext cx="8686800" cy="10515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Extração via API REST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 Python + arquivo CSV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(/api/measures/component_tree)</a:t>
            </a:r>
            <a:endParaRPr sz="2000"/>
          </a:p>
        </p:txBody>
      </p:sp>
      <p:sp>
        <p:nvSpPr>
          <p:cNvPr id="143" name="Google Shape;143;p18"/>
          <p:cNvSpPr/>
          <p:nvPr/>
        </p:nvSpPr>
        <p:spPr>
          <a:xfrm>
            <a:off x="10058400" y="4069080"/>
            <a:ext cx="457200" cy="777240"/>
          </a:xfrm>
          <a:prstGeom prst="rect">
            <a:avLst/>
          </a:prstGeom>
          <a:solidFill>
            <a:srgbClr val="D4A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1097280" y="5257800"/>
            <a:ext cx="8686800" cy="1051560"/>
          </a:xfrm>
          <a:prstGeom prst="rect">
            <a:avLst/>
          </a:prstGeom>
          <a:solidFill>
            <a:srgbClr val="2E5A8C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Análise Estatística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Correlação de Spearman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(SciPy, α = 0,05)</a:t>
            </a:r>
            <a:endParaRPr sz="2000"/>
          </a:p>
        </p:txBody>
      </p:sp>
      <p:sp>
        <p:nvSpPr>
          <p:cNvPr id="145" name="Google Shape;145;p18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Coletadas (Modelo SQALE)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48640" y="1280160"/>
            <a:ext cx="5486400" cy="2286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Complexidade Ciclomática e Cognitiva (CC)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Caminhos independentes no código (McCabe, 1976) e carga mental para compreensão do fluxo lógico (Campbell, 2017)</a:t>
            </a:r>
            <a:endParaRPr sz="2000"/>
          </a:p>
        </p:txBody>
      </p:sp>
      <p:sp>
        <p:nvSpPr>
          <p:cNvPr id="153" name="Google Shape;153;p19"/>
          <p:cNvSpPr/>
          <p:nvPr/>
        </p:nvSpPr>
        <p:spPr>
          <a:xfrm>
            <a:off x="6217920" y="1280160"/>
            <a:ext cx="5394960" cy="2286000"/>
          </a:xfrm>
          <a:prstGeom prst="rect">
            <a:avLst/>
          </a:prstGeom>
          <a:solidFill>
            <a:srgbClr val="8B1E2D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Dívida Técnica e TDR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Esforço acumulado de remediação (minutos) e razão percentual do custo de remediação vs. reescrita total da classe</a:t>
            </a:r>
            <a:endParaRPr sz="2000"/>
          </a:p>
        </p:txBody>
      </p:sp>
      <p:sp>
        <p:nvSpPr>
          <p:cNvPr id="154" name="Google Shape;154;p19"/>
          <p:cNvSpPr/>
          <p:nvPr/>
        </p:nvSpPr>
        <p:spPr>
          <a:xfrm>
            <a:off x="548640" y="3749039"/>
            <a:ext cx="5486400" cy="228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Gravidade dos Code Smells (CS)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Blocker, Critical, Major, Minor e Info — categorias de severidade do SonarQube</a:t>
            </a:r>
            <a:endParaRPr sz="2000"/>
          </a:p>
        </p:txBody>
      </p:sp>
      <p:sp>
        <p:nvSpPr>
          <p:cNvPr id="155" name="Google Shape;155;p19"/>
          <p:cNvSpPr/>
          <p:nvPr/>
        </p:nvSpPr>
        <p:spPr>
          <a:xfrm>
            <a:off x="6217920" y="3749039"/>
            <a:ext cx="5394960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Bugs, Vulnerabilidades e Duplicações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Falhas potenciais de runtime, fragilidades de segurança e % de código duplicado por classe</a:t>
            </a:r>
            <a:endParaRPr sz="2000"/>
          </a:p>
        </p:txBody>
      </p:sp>
      <p:sp>
        <p:nvSpPr>
          <p:cNvPr id="156" name="Google Shape;156;p19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Proposta: Índice de Prioridade de Refatoração (IP)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280160" y="1280160"/>
            <a:ext cx="9601200" cy="10058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8B1E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8B1E2D"/>
                </a:solidFill>
                <a:latin typeface="Calibri"/>
                <a:ea typeface="Calibri"/>
                <a:cs typeface="Calibri"/>
                <a:sym typeface="Calibri"/>
              </a:rPr>
              <a:t>IPᵢ = w₁·Norm(CCᵢ) + w₂·Norm(TDRᵢ) + w₃·Norm(CSᵢ)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1280160" y="23774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Norm(Xᵢ) = (Xᵢ − min(X)) / (max(X) − min(X))   —   normalização Min-Max no intervalo [0, 1]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822960" y="3200400"/>
            <a:ext cx="3566160" cy="14630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w₁ = 0,40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Complexidade Cognitiva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(Carga mental do desenvolvedor)</a:t>
            </a:r>
            <a:endParaRPr sz="2000"/>
          </a:p>
        </p:txBody>
      </p:sp>
      <p:sp>
        <p:nvSpPr>
          <p:cNvPr id="166" name="Google Shape;166;p20"/>
          <p:cNvSpPr/>
          <p:nvPr/>
        </p:nvSpPr>
        <p:spPr>
          <a:xfrm>
            <a:off x="4526280" y="3200400"/>
            <a:ext cx="3108960" cy="1463040"/>
          </a:xfrm>
          <a:prstGeom prst="rect">
            <a:avLst/>
          </a:prstGeom>
          <a:solidFill>
            <a:srgbClr val="8B1E2D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w₂ = 0,35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Debt Ratio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(Custo de remediação)</a:t>
            </a:r>
            <a:endParaRPr sz="2000"/>
          </a:p>
        </p:txBody>
      </p:sp>
      <p:sp>
        <p:nvSpPr>
          <p:cNvPr id="167" name="Google Shape;167;p20"/>
          <p:cNvSpPr/>
          <p:nvPr/>
        </p:nvSpPr>
        <p:spPr>
          <a:xfrm>
            <a:off x="7772400" y="3200400"/>
            <a:ext cx="3566160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w₃ = 0,25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Smells ponderados</a:t>
            </a: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severidade</a:t>
            </a:r>
            <a:endParaRPr sz="2000"/>
          </a:p>
        </p:txBody>
      </p:sp>
      <p:sp>
        <p:nvSpPr>
          <p:cNvPr id="168" name="Google Shape;168;p20"/>
          <p:cNvSpPr txBox="1"/>
          <p:nvPr/>
        </p:nvSpPr>
        <p:spPr>
          <a:xfrm>
            <a:off x="822960" y="493776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CS_bruto = 5·N_Blocker + 4·N_Critical + 3·N_Major + 2·N_Minor + 1·N_Info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Calibração fundamentada em Almarimi et al. (2020) e Lenarduzzi et al. (2019); Σ wⱼ = 1,0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Matriz de Criticidade e Zonas de Ação</a:t>
            </a:r>
            <a:endParaRPr/>
          </a:p>
        </p:txBody>
      </p:sp>
      <p:graphicFrame>
        <p:nvGraphicFramePr>
          <p:cNvPr id="176" name="Google Shape;176;p2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{C8857B70-92BB-4C95-A5CD-33AFEF0D7EF8}</a:tableStyleId>
              </a:tblPr>
              <a:tblGrid>
                <a:gridCol w="3688075"/>
                <a:gridCol w="3688075"/>
                <a:gridCol w="368807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Faixa de IP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Zona de Risco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Diretriz de Manutenção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IP ≥ 0,70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Zona Vermelha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Refatoração imediata — priorizar na sprint seguinte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0,40 ≤ IP &lt; 0,70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Zona Amarela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Monitoramento + refatoração oportunista ("regra do escoteiro")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IP &lt; 0,40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Zona Verde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44444"/>
                          </a:solidFill>
                        </a:rPr>
                        <a:t>Manutenção preventiva padrão — estável, sem intervenção no curto prazo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1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3B63"/>
                </a:solidFill>
                <a:latin typeface="Calibri"/>
                <a:ea typeface="Calibri"/>
                <a:cs typeface="Calibri"/>
                <a:sym typeface="Calibri"/>
              </a:rPr>
              <a:t>Fluxo operacional: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1. Telemetria via SonarScanner (CI/CD)  →  2. Normalização e cálculo do IP (Python)  →  3. Ranqueamento por zona  →  4. Backlog de refatoração com a Zona Vermelha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Resultados: Indicadores Gerais de Qualidade</a:t>
            </a:r>
            <a:endParaRPr/>
          </a:p>
        </p:txBody>
      </p:sp>
      <p:graphicFrame>
        <p:nvGraphicFramePr>
          <p:cNvPr id="185" name="Google Shape;185;p22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{C8857B70-92BB-4C95-A5CD-33AFEF0D7EF8}</a:tableStyleId>
              </a:tblPr>
              <a:tblGrid>
                <a:gridCol w="2766050"/>
                <a:gridCol w="2766050"/>
                <a:gridCol w="2766050"/>
                <a:gridCol w="27660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Métrica / Indicador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Mockito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JUnit 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FFFFFF"/>
                          </a:solidFill>
                        </a:rPr>
                        <a:t>Spring Boot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Quality Gate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PASSED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PASSED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PASSED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Bugs identificados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70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136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76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Vulnerabilidades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14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21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Total de Code Smells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2.658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2.280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1.705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Dívida Técnica (horas)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283 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320 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152 h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Densidade de Duplicação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1,8%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1,9%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444444"/>
                          </a:solidFill>
                        </a:rPr>
                        <a:t>2,1%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2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B1E2D"/>
                </a:solidFill>
                <a:latin typeface="Calibri"/>
                <a:ea typeface="Calibri"/>
                <a:cs typeface="Calibri"/>
                <a:sym typeface="Calibri"/>
              </a:rPr>
              <a:t>Total acumulado: 755 horas de remediação estimada, apesar de todos os Quality Gates aprovados.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Smells por Nível de Severidade</a:t>
            </a:r>
            <a:endParaRPr/>
          </a:p>
        </p:txBody>
      </p:sp>
      <p:graphicFrame>
        <p:nvGraphicFramePr>
          <p:cNvPr id="194" name="Google Shape;194;p23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{C8857B70-92BB-4C95-A5CD-33AFEF0D7EF8}</a:tableStyleId>
              </a:tblPr>
              <a:tblGrid>
                <a:gridCol w="1580600"/>
                <a:gridCol w="1580600"/>
                <a:gridCol w="1580600"/>
                <a:gridCol w="1580600"/>
                <a:gridCol w="1580600"/>
                <a:gridCol w="1580600"/>
                <a:gridCol w="158060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Projeto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Blocker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Major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Minor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Info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1F3B63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Mockito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205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861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1.505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84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2.658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JUnit 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31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1.046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583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582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38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2.280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Spring Boot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165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422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1.108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9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cap="none" strike="noStrike">
                          <a:solidFill>
                            <a:srgbClr val="444444"/>
                          </a:solidFill>
                        </a:rPr>
                        <a:t>1.705</a:t>
                      </a:r>
                      <a:endParaRPr sz="19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descr="grafico_cs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3657550"/>
            <a:ext cx="10515601" cy="28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Discussão: Perfil de Degradação por Ecossistema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548640" y="1280160"/>
            <a:ext cx="11064240" cy="1463040"/>
          </a:xfrm>
          <a:prstGeom prst="rect">
            <a:avLst/>
          </a:prstGeom>
          <a:solidFill>
            <a:srgbClr val="8B1E2D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JUnit 5 — maior dívida técnica (320 h)</a:t>
            </a:r>
            <a:endParaRPr sz="2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Maior concentração de violações severas (1.077 Blocker+Critical) — suporte multi-módulo, execução paralela de testes e compatibilidade retroativa</a:t>
            </a:r>
            <a:endParaRPr sz="2500"/>
          </a:p>
        </p:txBody>
      </p:sp>
      <p:sp>
        <p:nvSpPr>
          <p:cNvPr id="204" name="Google Shape;204;p24"/>
          <p:cNvSpPr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Mockito — maior volume total (2.658 code smells)</a:t>
            </a:r>
            <a:endParaRPr sz="2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Concentrados em Minor (56,6%) e Major (32,4%) — reflexão, manipulação de estado e instrumentação de bytecode induzem violações recorrentes</a:t>
            </a:r>
            <a:endParaRPr sz="2500"/>
          </a:p>
        </p:txBody>
      </p:sp>
      <p:sp>
        <p:nvSpPr>
          <p:cNvPr id="205" name="Google Shape;205;p24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 — melhor desempenho (152 h)</a:t>
            </a:r>
            <a:endParaRPr sz="2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Apenas 165 violações críticas — adesão estrita a convenções arquiteturais, Inversão de Controle e Injeção de Dependência</a:t>
            </a:r>
            <a:endParaRPr sz="2500"/>
          </a:p>
        </p:txBody>
      </p:sp>
      <p:sp>
        <p:nvSpPr>
          <p:cNvPr id="206" name="Google Shape;206;p24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Ameaças à Validade (Wohlin et al., 2012)</a:t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548640" y="1280160"/>
            <a:ext cx="5486400" cy="21945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Validade Interna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SonarQube estável em Docker + SonarScanner CLI (perfil Sonar way); extração 100% automatizada via API REST; métricas SQALE isoladas de cobertura</a:t>
            </a:r>
            <a:endParaRPr sz="2000"/>
          </a:p>
        </p:txBody>
      </p:sp>
      <p:sp>
        <p:nvSpPr>
          <p:cNvPr id="214" name="Google Shape;214;p25"/>
          <p:cNvSpPr/>
          <p:nvPr/>
        </p:nvSpPr>
        <p:spPr>
          <a:xfrm>
            <a:off x="6217920" y="1280160"/>
            <a:ext cx="5394960" cy="2194560"/>
          </a:xfrm>
          <a:prstGeom prst="rect">
            <a:avLst/>
          </a:prstGeom>
          <a:solidFill>
            <a:srgbClr val="2E5A8C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Validade Externa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 limitadas a Java/OO; amostra heterogênea (metaprogramação, concorrência, framework corporativo)</a:t>
            </a:r>
            <a:endParaRPr sz="2000"/>
          </a:p>
        </p:txBody>
      </p:sp>
      <p:sp>
        <p:nvSpPr>
          <p:cNvPr id="215" name="Google Shape;215;p25"/>
          <p:cNvSpPr/>
          <p:nvPr/>
        </p:nvSpPr>
        <p:spPr>
          <a:xfrm>
            <a:off x="548640" y="3657600"/>
            <a:ext cx="5486400" cy="21945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Validade de Construto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Estimativas SQALE são heurísticas — trianguladas com contagem, densidade e severidade; sem ajuste subjetivo de pesos</a:t>
            </a:r>
            <a:endParaRPr sz="2000"/>
          </a:p>
        </p:txBody>
      </p:sp>
      <p:sp>
        <p:nvSpPr>
          <p:cNvPr id="216" name="Google Shape;216;p25"/>
          <p:cNvSpPr/>
          <p:nvPr/>
        </p:nvSpPr>
        <p:spPr>
          <a:xfrm>
            <a:off x="6217920" y="3657600"/>
            <a:ext cx="5394960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Validade de Conclusão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não normais (Shapiro-Wilk, p &lt; 0,05) → correlação de Spearman (não paramétrica), α = 0,05</a:t>
            </a:r>
            <a:endParaRPr sz="2000"/>
          </a:p>
        </p:txBody>
      </p:sp>
      <p:sp>
        <p:nvSpPr>
          <p:cNvPr id="217" name="Google Shape;217;p25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1E2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548640" y="1280160"/>
            <a:ext cx="110643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Estudo empírico em Mockito, JUnit 5 e Spring Boot: 5.200 classes analisadas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Quality Gates aprovados, mas 755 horas de dívida técnica acumulada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Bibliotecas de teste e metaprogramação acumulam mais violações severas que frameworks corporativos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Principais contribuições: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Índice de Prioridade (IP): integra CC, TDR e CS normalizados em [0,1]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   – Matriz de Criticidade: apenas 6% das classes na Zona Vermelha (IP ≥ 0,70)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Equipes podem otimizar o esforço de refatoração focando nos artefatos de alto impacto</a:t>
            </a:r>
            <a:endParaRPr sz="2400"/>
          </a:p>
        </p:txBody>
      </p:sp>
      <p:sp>
        <p:nvSpPr>
          <p:cNvPr id="225" name="Google Shape;225;p26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Trabalhos Futuros</a:t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Análise Temporal e Evolutiva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Trajetória histórica do débito técnico por commits e releases — identificar picos de introdução de code smells</a:t>
            </a:r>
            <a:endParaRPr sz="2000"/>
          </a:p>
        </p:txBody>
      </p:sp>
      <p:sp>
        <p:nvSpPr>
          <p:cNvPr id="233" name="Google Shape;233;p27"/>
          <p:cNvSpPr/>
          <p:nvPr/>
        </p:nvSpPr>
        <p:spPr>
          <a:xfrm>
            <a:off x="548640" y="3017520"/>
            <a:ext cx="11064240" cy="1371600"/>
          </a:xfrm>
          <a:prstGeom prst="rect">
            <a:avLst/>
          </a:prstGeom>
          <a:solidFill>
            <a:srgbClr val="8B1E2D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Impacto de IA Generativa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Mapear como assistentes de codificação afetam densidade de code smells, carga cognitiva e manutenibilidade</a:t>
            </a:r>
            <a:endParaRPr sz="2000"/>
          </a:p>
        </p:txBody>
      </p:sp>
      <p:sp>
        <p:nvSpPr>
          <p:cNvPr id="234" name="Google Shape;234;p27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137150" spcFirstLastPara="1" rIns="13715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Validação Industrial e Comparativa</a:t>
            </a:r>
            <a:endParaRPr sz="2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Aplicar o IP e a Matriz de Criticidade em ambientes corporativos e linguagens dinâmicas (Python, TypeScript)</a:t>
            </a:r>
            <a:endParaRPr sz="2000"/>
          </a:p>
        </p:txBody>
      </p:sp>
      <p:sp>
        <p:nvSpPr>
          <p:cNvPr id="235" name="Google Shape;235;p27"/>
          <p:cNvSpPr/>
          <p:nvPr/>
        </p:nvSpPr>
        <p:spPr>
          <a:xfrm>
            <a:off x="0" y="6498300"/>
            <a:ext cx="12192000" cy="3597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371325" y="6607450"/>
            <a:ext cx="11341488" cy="19615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4F81BD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D0E0E3"/>
                </a:solidFill>
                <a:latin typeface="Arial"/>
              </a:rPr>
              <a:t>Mestrado em Ciência da Computação | Engenharia de Software | UFAC | Discentes: André Cacau e Paulo Ricardo Aguiar 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548640" y="1188720"/>
            <a:ext cx="110643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Almarimi, N. et al. (2020). An empirical study on the impact of cognitive complexity on software maintainability. JSS, 168.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Campbell, G. A. (2017). Cognitive complexity: A new way of measuring understandability. SonarSource.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Cunningham, W. (1992). The WyCash portfolio management system. OOPSLA '92.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Fontana, F. A. et al. (2016). Are architectural smells independent from code smells? ICSME.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Haas, R., Felderer, M., Ramler, R. (2020). The impact of code complexity and technical debt on defect density in open-source Java systems. ESE, 25(4).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Lenarduzzi, V. et al. (2019). Investigating the fault-proneness of technical debt indicators. IEEE TechDebt.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McCabe, T. J. (1976). A complexity measure. IEEE TSE.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Wohlin, C. et al. (2012). Experimentation in Software Engineering. Springer.</a:t>
            </a:r>
            <a:endParaRPr sz="20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Repositório do estudo: github.com/proaguiar/Analise-Empirica-de-Divida-Tecnica... (2026)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0" y="4480560"/>
            <a:ext cx="12191700" cy="54900"/>
          </a:xfrm>
          <a:prstGeom prst="rect">
            <a:avLst/>
          </a:prstGeom>
          <a:solidFill>
            <a:srgbClr val="D4A53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731520" y="1463040"/>
            <a:ext cx="1069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Empírica de Dívida Técnica e Manutenibilidade em Frameworks e Bibliotecas Java Open-Source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4A53F"/>
                </a:solidFill>
                <a:latin typeface="Calibri"/>
                <a:ea typeface="Calibri"/>
                <a:cs typeface="Calibri"/>
                <a:sym typeface="Calibri"/>
              </a:rPr>
              <a:t>Um Estudo Comparativo</a:t>
            </a:r>
            <a:endParaRPr sz="2500"/>
          </a:p>
        </p:txBody>
      </p:sp>
      <p:sp>
        <p:nvSpPr>
          <p:cNvPr id="250" name="Google Shape;250;p29"/>
          <p:cNvSpPr txBox="1"/>
          <p:nvPr/>
        </p:nvSpPr>
        <p:spPr>
          <a:xfrm>
            <a:off x="731520" y="4754880"/>
            <a:ext cx="10698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André de Oliveira Cacau · Paulo Ricardo Oliveira de Aguiar</a:t>
            </a:r>
            <a:endParaRPr sz="2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9D4E0"/>
                </a:solidFill>
                <a:latin typeface="Calibri"/>
                <a:ea typeface="Calibri"/>
                <a:cs typeface="Calibri"/>
                <a:sym typeface="Calibri"/>
              </a:rPr>
              <a:t>Universidade Federal do Acre (UFAC) — PPgCC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2300" y="224175"/>
            <a:ext cx="1028700" cy="15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 txBox="1"/>
          <p:nvPr/>
        </p:nvSpPr>
        <p:spPr>
          <a:xfrm>
            <a:off x="4101875" y="3079150"/>
            <a:ext cx="4502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 !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